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4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1F8C9088-81AF-BA35-6293-8A445374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>
            <a:extLst>
              <a:ext uri="{FF2B5EF4-FFF2-40B4-BE49-F238E27FC236}">
                <a16:creationId xmlns:a16="http://schemas.microsoft.com/office/drawing/2014/main" id="{281F4256-87B1-2ABA-7C95-220CCE452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>
            <a:extLst>
              <a:ext uri="{FF2B5EF4-FFF2-40B4-BE49-F238E27FC236}">
                <a16:creationId xmlns:a16="http://schemas.microsoft.com/office/drawing/2014/main" id="{0C2847DF-5D25-01DB-8B08-E29315862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316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E5CBCB6A-A33E-DDBB-4CAA-BE5EBFD67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>
            <a:extLst>
              <a:ext uri="{FF2B5EF4-FFF2-40B4-BE49-F238E27FC236}">
                <a16:creationId xmlns:a16="http://schemas.microsoft.com/office/drawing/2014/main" id="{B5EB5779-36FE-4915-3B7E-7B95B16DF1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>
            <a:extLst>
              <a:ext uri="{FF2B5EF4-FFF2-40B4-BE49-F238E27FC236}">
                <a16:creationId xmlns:a16="http://schemas.microsoft.com/office/drawing/2014/main" id="{019A3586-01C4-82A8-804D-572348374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743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F8001181-452C-68B4-F3E7-7B06D582E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>
            <a:extLst>
              <a:ext uri="{FF2B5EF4-FFF2-40B4-BE49-F238E27FC236}">
                <a16:creationId xmlns:a16="http://schemas.microsoft.com/office/drawing/2014/main" id="{742D1E6D-14CA-4F92-2B49-89861E994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>
            <a:extLst>
              <a:ext uri="{FF2B5EF4-FFF2-40B4-BE49-F238E27FC236}">
                <a16:creationId xmlns:a16="http://schemas.microsoft.com/office/drawing/2014/main" id="{A17B279A-9D46-AB68-3DA9-38FA1907C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285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5E10017A-2B17-B62E-E818-8087F6E1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>
            <a:extLst>
              <a:ext uri="{FF2B5EF4-FFF2-40B4-BE49-F238E27FC236}">
                <a16:creationId xmlns:a16="http://schemas.microsoft.com/office/drawing/2014/main" id="{28B07DBD-7B99-B46B-FE5D-4BC936228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>
            <a:extLst>
              <a:ext uri="{FF2B5EF4-FFF2-40B4-BE49-F238E27FC236}">
                <a16:creationId xmlns:a16="http://schemas.microsoft.com/office/drawing/2014/main" id="{CA63200A-D682-84B3-D59C-63EE64B0AD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5131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9C93A530-2D49-E9BA-AFD9-10C67401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>
            <a:extLst>
              <a:ext uri="{FF2B5EF4-FFF2-40B4-BE49-F238E27FC236}">
                <a16:creationId xmlns:a16="http://schemas.microsoft.com/office/drawing/2014/main" id="{A29B6DE7-0F57-12A5-2788-3A7735462B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>
            <a:extLst>
              <a:ext uri="{FF2B5EF4-FFF2-40B4-BE49-F238E27FC236}">
                <a16:creationId xmlns:a16="http://schemas.microsoft.com/office/drawing/2014/main" id="{2348F0DE-2BF0-36D3-4402-810AA22611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6135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4E448D33-FDE0-C709-B509-F3E3B48A9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>
            <a:extLst>
              <a:ext uri="{FF2B5EF4-FFF2-40B4-BE49-F238E27FC236}">
                <a16:creationId xmlns:a16="http://schemas.microsoft.com/office/drawing/2014/main" id="{4586C17C-5321-5B14-B9FD-C2339DA51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>
            <a:extLst>
              <a:ext uri="{FF2B5EF4-FFF2-40B4-BE49-F238E27FC236}">
                <a16:creationId xmlns:a16="http://schemas.microsoft.com/office/drawing/2014/main" id="{E6B0C99D-52B1-B124-59C1-53D7B46CB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6821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C38D760D-5411-35F1-D475-2C6BB6C65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>
            <a:extLst>
              <a:ext uri="{FF2B5EF4-FFF2-40B4-BE49-F238E27FC236}">
                <a16:creationId xmlns:a16="http://schemas.microsoft.com/office/drawing/2014/main" id="{15E5C887-1A6F-6D21-E0E7-A911C9150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>
            <a:extLst>
              <a:ext uri="{FF2B5EF4-FFF2-40B4-BE49-F238E27FC236}">
                <a16:creationId xmlns:a16="http://schemas.microsoft.com/office/drawing/2014/main" id="{FC748648-F9D8-40E8-BE87-C062069C0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8675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20E22C99-9AAF-1336-46F9-B195AEB6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>
            <a:extLst>
              <a:ext uri="{FF2B5EF4-FFF2-40B4-BE49-F238E27FC236}">
                <a16:creationId xmlns:a16="http://schemas.microsoft.com/office/drawing/2014/main" id="{863B772C-25F6-3875-FB9D-5F77DD839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>
            <a:extLst>
              <a:ext uri="{FF2B5EF4-FFF2-40B4-BE49-F238E27FC236}">
                <a16:creationId xmlns:a16="http://schemas.microsoft.com/office/drawing/2014/main" id="{EF431034-A4FE-50E2-3995-973FFADCC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1771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Weather Forecast 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Brendan, Steven &amp; Ian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90F7C324-D3E3-92F6-CE8F-5A40D339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61626C-5479-BF97-D3D8-45943BEFA9F1}"/>
              </a:ext>
            </a:extLst>
          </p:cNvPr>
          <p:cNvSpPr txBox="1"/>
          <p:nvPr/>
        </p:nvSpPr>
        <p:spPr>
          <a:xfrm>
            <a:off x="3717234" y="243349"/>
            <a:ext cx="4572000" cy="45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240"/>
              </a:lnSpc>
              <a:buNone/>
            </a:pPr>
            <a:r>
              <a:rPr lang="en-US" sz="2000" b="1" dirty="0">
                <a:solidFill>
                  <a:srgbClr val="5C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Our Analysis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40143-F0EE-6B0F-F271-5F7483B37B69}"/>
              </a:ext>
            </a:extLst>
          </p:cNvPr>
          <p:cNvSpPr txBox="1"/>
          <p:nvPr/>
        </p:nvSpPr>
        <p:spPr>
          <a:xfrm>
            <a:off x="2935357" y="684304"/>
            <a:ext cx="4572000" cy="467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43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analyzed 16 months of weather data from 167 U.S. cities.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16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 is to understand where and why weather forecasts struggle.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16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we examined forecast accuracy patterns.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1600" dirty="0">
              <a:solidFill>
                <a:srgbClr val="E8F0F8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1600" b="1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lead times:</a:t>
            </a:r>
            <a:r>
              <a:rPr lang="en-US" sz="16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12, 24, 36, and 48 hours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1600" b="1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metrics:</a:t>
            </a:r>
            <a:r>
              <a:rPr lang="en-US" sz="16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forecast vs. observed temperature</a:t>
            </a:r>
            <a:endParaRPr lang="en-US" sz="16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54441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0D569EEB-AE0F-351F-A1A8-5CF48A3F7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55239E-C4E8-A537-4167-3BC6E7D86700}"/>
              </a:ext>
            </a:extLst>
          </p:cNvPr>
          <p:cNvSpPr txBox="1"/>
          <p:nvPr/>
        </p:nvSpPr>
        <p:spPr>
          <a:xfrm>
            <a:off x="3081130" y="309609"/>
            <a:ext cx="457200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240"/>
              </a:lnSpc>
              <a:buNone/>
            </a:pPr>
            <a:r>
              <a:rPr lang="en-US" sz="2800" b="1">
                <a:solidFill>
                  <a:srgbClr val="5C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Research Questions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F8E5A-4C50-691C-6802-993C60BE6735}"/>
              </a:ext>
            </a:extLst>
          </p:cNvPr>
          <p:cNvSpPr txBox="1"/>
          <p:nvPr/>
        </p:nvSpPr>
        <p:spPr>
          <a:xfrm>
            <a:off x="2935355" y="1102640"/>
            <a:ext cx="534725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times did each forecast outlook occur?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 forecast error across states and time?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the minimum and maximum prediction errors?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84612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4007BFF5-DD9A-48D3-777F-5EB24592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F90379-1F26-4488-6ECA-ED837B049A95}"/>
              </a:ext>
            </a:extLst>
          </p:cNvPr>
          <p:cNvSpPr txBox="1"/>
          <p:nvPr/>
        </p:nvSpPr>
        <p:spPr>
          <a:xfrm>
            <a:off x="2286000" y="190342"/>
            <a:ext cx="4572000" cy="45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000" b="1" dirty="0">
                <a:solidFill>
                  <a:srgbClr val="5C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1: Temperature Patterns</a:t>
            </a:r>
            <a:endParaRPr lang="en-US" sz="2000" dirty="0"/>
          </a:p>
        </p:txBody>
      </p:sp>
      <p:pic>
        <p:nvPicPr>
          <p:cNvPr id="11" name="Picture 10" descr="A graph showing a graph of a forecast&#10;&#10;AI-generated content may be incorrect.">
            <a:extLst>
              <a:ext uri="{FF2B5EF4-FFF2-40B4-BE49-F238E27FC236}">
                <a16:creationId xmlns:a16="http://schemas.microsoft.com/office/drawing/2014/main" id="{10EEC224-CD0B-A4F2-D047-CED19A8B1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786" y="1208215"/>
            <a:ext cx="4858428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4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D61C9897-12B5-D1DA-E148-ED2DCA340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B7F51C-97DD-E95B-415E-DF8A233B85E4}"/>
              </a:ext>
            </a:extLst>
          </p:cNvPr>
          <p:cNvSpPr txBox="1"/>
          <p:nvPr/>
        </p:nvSpPr>
        <p:spPr>
          <a:xfrm>
            <a:off x="2286000" y="190342"/>
            <a:ext cx="4572000" cy="45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000" b="1" dirty="0">
                <a:solidFill>
                  <a:srgbClr val="5C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2: Geographic Patterns</a:t>
            </a:r>
            <a:endParaRPr lang="en-US" sz="2000" dirty="0"/>
          </a:p>
        </p:txBody>
      </p:sp>
      <p:pic>
        <p:nvPicPr>
          <p:cNvPr id="3" name="Picture 2" descr="A map of the united states">
            <a:extLst>
              <a:ext uri="{FF2B5EF4-FFF2-40B4-BE49-F238E27FC236}">
                <a16:creationId xmlns:a16="http://schemas.microsoft.com/office/drawing/2014/main" id="{46C19379-82C7-40C5-CB67-3BE5E0F60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458" y="1143000"/>
            <a:ext cx="4375084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AED64167-4437-A821-0BD5-7A1B8B8AC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5A5329-3C0B-4C97-0D7F-37F28F06365A}"/>
              </a:ext>
            </a:extLst>
          </p:cNvPr>
          <p:cNvSpPr txBox="1"/>
          <p:nvPr/>
        </p:nvSpPr>
        <p:spPr>
          <a:xfrm>
            <a:off x="2857500" y="357373"/>
            <a:ext cx="4572000" cy="45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40"/>
              </a:lnSpc>
              <a:buClr>
                <a:schemeClr val="bg1"/>
              </a:buClr>
            </a:pPr>
            <a:r>
              <a:rPr lang="en-US" sz="2000" b="1" dirty="0">
                <a:solidFill>
                  <a:srgbClr val="5C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Lead Time Impact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FE2827-1F17-F71A-220C-D6B4DD586104}"/>
              </a:ext>
            </a:extLst>
          </p:cNvPr>
          <p:cNvSpPr txBox="1"/>
          <p:nvPr/>
        </p:nvSpPr>
        <p:spPr>
          <a:xfrm>
            <a:off x="2959100" y="1096627"/>
            <a:ext cx="4572000" cy="3441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error increases dramatically with lead time (12h vs 48h)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patterns: Great Plains and Southwest show highest errors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regions demonstrate more consistent accuracy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terrain complexity directly impacts prediction reliability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7835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1F5A895E-F353-86E7-4556-7E8167E52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456731-0E89-5D8F-9FAD-DCAF6ED1219F}"/>
              </a:ext>
            </a:extLst>
          </p:cNvPr>
          <p:cNvSpPr txBox="1"/>
          <p:nvPr/>
        </p:nvSpPr>
        <p:spPr>
          <a:xfrm>
            <a:off x="2857500" y="357373"/>
            <a:ext cx="4572000" cy="86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40"/>
              </a:lnSpc>
              <a:buClr>
                <a:schemeClr val="bg1"/>
              </a:buClr>
            </a:pPr>
            <a:r>
              <a:rPr lang="en-US" sz="2000" b="1" dirty="0">
                <a:solidFill>
                  <a:srgbClr val="5C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Weather Distribution</a:t>
            </a:r>
            <a:endParaRPr lang="en-US" sz="2000" dirty="0"/>
          </a:p>
          <a:p>
            <a:pPr>
              <a:lnSpc>
                <a:spcPts val="3240"/>
              </a:lnSpc>
              <a:buClr>
                <a:schemeClr val="bg1"/>
              </a:buClr>
            </a:pP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903B9-A1E4-B654-4FD6-6FDF61241308}"/>
              </a:ext>
            </a:extLst>
          </p:cNvPr>
          <p:cNvSpPr txBox="1"/>
          <p:nvPr/>
        </p:nvSpPr>
        <p:spPr>
          <a:xfrm>
            <a:off x="2857500" y="890430"/>
            <a:ext cx="52832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dominated by sunny and partly cloudy forecasts (~70%)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events (storms, snow) underrepresented but harder to predict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imbalance may explain regional variation in forecast skill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with frequent severe weather show higher error rates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921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95136ECD-7885-0EAB-5B5B-8B30B6D1C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FCE207-52C8-1EDE-38F4-976B4004E6AA}"/>
              </a:ext>
            </a:extLst>
          </p:cNvPr>
          <p:cNvSpPr txBox="1"/>
          <p:nvPr/>
        </p:nvSpPr>
        <p:spPr>
          <a:xfrm>
            <a:off x="2921000" y="331973"/>
            <a:ext cx="4572000" cy="45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240"/>
              </a:lnSpc>
              <a:buNone/>
            </a:pPr>
            <a:r>
              <a:rPr lang="en-US" sz="2000" b="1" dirty="0">
                <a:solidFill>
                  <a:srgbClr val="5C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Forecast Accuracy Matters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E9244F-7D50-7178-7646-D5AF03F40EA2}"/>
              </a:ext>
            </a:extLst>
          </p:cNvPr>
          <p:cNvSpPr txBox="1"/>
          <p:nvPr/>
        </p:nvSpPr>
        <p:spPr>
          <a:xfrm>
            <a:off x="2921000" y="982327"/>
            <a:ext cx="57785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2000" b="1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Planning:</a:t>
            </a: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Citizens and businesses rely on accurate forecasts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2000" b="1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</a:t>
            </a: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Severe weather warnings depend on prediction reliability</a:t>
            </a:r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2000" b="1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Research:</a:t>
            </a: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Understanding error patterns improves forecasting algorithms</a:t>
            </a:r>
          </a:p>
          <a:p>
            <a:pPr>
              <a:lnSpc>
                <a:spcPts val="2430"/>
              </a:lnSpc>
              <a:buClr>
                <a:schemeClr val="bg1"/>
              </a:buClr>
              <a:buSzPct val="100000"/>
            </a:pPr>
            <a:endParaRPr lang="en-US" sz="2000" dirty="0"/>
          </a:p>
          <a:p>
            <a:pPr marL="342900" indent="-342900">
              <a:lnSpc>
                <a:spcPts val="2430"/>
              </a:lnSpc>
              <a:buClr>
                <a:schemeClr val="bg1"/>
              </a:buClr>
              <a:buSzPct val="100000"/>
              <a:buChar char="•"/>
            </a:pPr>
            <a:r>
              <a:rPr lang="en-US" sz="2000" b="1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Challenges:</a:t>
            </a: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Certain geographic areas need better modeling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3352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1A26E260-C46F-A664-DFFE-74A3D6B1E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62775C-B7B0-4ED7-4EB3-CDC5BCEB12E2}"/>
              </a:ext>
            </a:extLst>
          </p:cNvPr>
          <p:cNvSpPr txBox="1"/>
          <p:nvPr/>
        </p:nvSpPr>
        <p:spPr>
          <a:xfrm>
            <a:off x="2286000" y="306573"/>
            <a:ext cx="457200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800" b="1" dirty="0">
                <a:solidFill>
                  <a:srgbClr val="5C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31A9D9-FA40-F46C-D235-634B5533F65E}"/>
              </a:ext>
            </a:extLst>
          </p:cNvPr>
          <p:cNvSpPr txBox="1"/>
          <p:nvPr/>
        </p:nvSpPr>
        <p:spPr>
          <a:xfrm>
            <a:off x="2959100" y="1377606"/>
            <a:ext cx="6197600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Lead time significantly impacts forecast accuracy</a:t>
            </a:r>
            <a:endParaRPr lang="en-US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69F1CC-F8E2-000A-B090-97930FD340CD}"/>
              </a:ext>
            </a:extLst>
          </p:cNvPr>
          <p:cNvSpPr txBox="1"/>
          <p:nvPr/>
        </p:nvSpPr>
        <p:spPr>
          <a:xfrm>
            <a:off x="2787650" y="2281927"/>
            <a:ext cx="605790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Geographic variation suggests regional challenges in modeling</a:t>
            </a:r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2968DD-35C9-F8B8-96E8-7BCBD352AA44}"/>
              </a:ext>
            </a:extLst>
          </p:cNvPr>
          <p:cNvSpPr txBox="1"/>
          <p:nvPr/>
        </p:nvSpPr>
        <p:spPr>
          <a:xfrm>
            <a:off x="3460750" y="3186247"/>
            <a:ext cx="556260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20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Data-driven insights enable continuous improvement in weather services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77249457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263</Words>
  <Application>Microsoft Office PowerPoint</Application>
  <PresentationFormat>On-screen Show (16:9)</PresentationFormat>
  <Paragraphs>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Lato</vt:lpstr>
      <vt:lpstr>Arial</vt:lpstr>
      <vt:lpstr>Montserrat</vt:lpstr>
      <vt:lpstr>Focus</vt:lpstr>
      <vt:lpstr>Weather Forecast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Steven Baardsen</cp:lastModifiedBy>
  <cp:revision>3</cp:revision>
  <dcterms:modified xsi:type="dcterms:W3CDTF">2025-12-03T17:52:36Z</dcterms:modified>
</cp:coreProperties>
</file>